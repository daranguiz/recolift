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  <p:sldMasterId id="2147483665" r:id="rId2"/>
  </p:sldMasterIdLst>
  <p:notesMasterIdLst>
    <p:notesMasterId r:id="rId16"/>
  </p:notesMasterIdLst>
  <p:handoutMasterIdLst>
    <p:handoutMasterId r:id="rId17"/>
  </p:handoutMasterIdLst>
  <p:sldIdLst>
    <p:sldId id="260" r:id="rId3"/>
    <p:sldId id="308" r:id="rId4"/>
    <p:sldId id="309" r:id="rId5"/>
    <p:sldId id="298" r:id="rId6"/>
    <p:sldId id="299" r:id="rId7"/>
    <p:sldId id="300" r:id="rId8"/>
    <p:sldId id="301" r:id="rId9"/>
    <p:sldId id="310" r:id="rId10"/>
    <p:sldId id="302" r:id="rId11"/>
    <p:sldId id="303" r:id="rId12"/>
    <p:sldId id="304" r:id="rId13"/>
    <p:sldId id="311" r:id="rId14"/>
    <p:sldId id="312" r:id="rId15"/>
  </p:sldIdLst>
  <p:sldSz cx="10058400" cy="7772400"/>
  <p:notesSz cx="6858000" cy="9144000"/>
  <p:defaultTextStyle>
    <a:defPPr>
      <a:defRPr lang="en-US"/>
    </a:defPPr>
    <a:lvl1pPr marL="0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>
          <p15:clr>
            <a:srgbClr val="A4A3A4"/>
          </p15:clr>
        </p15:guide>
        <p15:guide id="2" pos="31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6322"/>
    <a:srgbClr val="142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440" y="108"/>
      </p:cViewPr>
      <p:guideLst>
        <p:guide orient="horz" pos="2448"/>
        <p:guide pos="31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1" d="100"/>
          <a:sy n="91" d="100"/>
        </p:scale>
        <p:origin x="-4280" y="-33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ECE_handoutmaste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7" y="8450729"/>
            <a:ext cx="6858000" cy="705971"/>
          </a:xfrm>
          <a:prstGeom prst="rect">
            <a:avLst/>
          </a:prstGeom>
        </p:spPr>
      </p:pic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solidFill>
                <a:srgbClr val="142958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7356FF-FEF1-EF48-BD73-4B95B2E46E83}" type="datetimeFigureOut">
              <a:rPr lang="en-US" smtClean="0">
                <a:solidFill>
                  <a:srgbClr val="F16322"/>
                </a:solidFill>
              </a:rPr>
              <a:t>5/6/2015</a:t>
            </a:fld>
            <a:endParaRPr lang="en-US" dirty="0">
              <a:solidFill>
                <a:srgbClr val="F1632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476999" y="8889999"/>
            <a:ext cx="379413" cy="252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EFB91-0E46-0049-83A0-416CE6334971}" type="slidenum">
              <a:rPr lang="en-US" smtClean="0">
                <a:solidFill>
                  <a:schemeClr val="bg1"/>
                </a:solidFill>
                <a:latin typeface="OfficinaSansITCStd Book"/>
                <a:cs typeface="OfficinaSansITCStd Book"/>
              </a:rPr>
              <a:t>‹#›</a:t>
            </a:fld>
            <a:endParaRPr lang="en-US" dirty="0">
              <a:solidFill>
                <a:schemeClr val="bg1"/>
              </a:solidFill>
              <a:latin typeface="OfficinaSansITCStd Book"/>
              <a:cs typeface="OfficinaSansITCStd Book"/>
            </a:endParaRPr>
          </a:p>
        </p:txBody>
      </p:sp>
    </p:spTree>
    <p:extLst>
      <p:ext uri="{BB962C8B-B14F-4D97-AF65-F5344CB8AC3E}">
        <p14:creationId xmlns:p14="http://schemas.microsoft.com/office/powerpoint/2010/main" val="20048813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rgbClr val="142958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F16322"/>
                </a:solidFill>
              </a:defRPr>
            </a:lvl1pPr>
          </a:lstStyle>
          <a:p>
            <a:fld id="{DBF7D493-8EEB-7E45-916B-5FBC49ABC710}" type="datetimeFigureOut">
              <a:rPr lang="en-US" smtClean="0"/>
              <a:pPr/>
              <a:t>5/6/2015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9675" y="685800"/>
            <a:ext cx="44386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8" name="Picture 7" descr="ECE_handoutmaste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7" y="8450729"/>
            <a:ext cx="6858000" cy="705971"/>
          </a:xfrm>
          <a:prstGeom prst="rect">
            <a:avLst/>
          </a:prstGeom>
        </p:spPr>
      </p:pic>
      <p:sp>
        <p:nvSpPr>
          <p:cNvPr id="9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6476999" y="8889999"/>
            <a:ext cx="379413" cy="252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EFB91-0E46-0049-83A0-416CE6334971}" type="slidenum">
              <a:rPr lang="en-US" smtClean="0">
                <a:solidFill>
                  <a:schemeClr val="bg1"/>
                </a:solidFill>
                <a:latin typeface="OfficinaSansITCStd Book"/>
                <a:cs typeface="OfficinaSansITCStd Book"/>
              </a:rPr>
              <a:t>‹#›</a:t>
            </a:fld>
            <a:endParaRPr lang="en-US" dirty="0">
              <a:solidFill>
                <a:schemeClr val="bg1"/>
              </a:solidFill>
              <a:latin typeface="OfficinaSansITCStd Book"/>
              <a:cs typeface="OfficinaSansITCStd Book"/>
            </a:endParaRPr>
          </a:p>
        </p:txBody>
      </p:sp>
    </p:spTree>
    <p:extLst>
      <p:ext uri="{BB962C8B-B14F-4D97-AF65-F5344CB8AC3E}">
        <p14:creationId xmlns:p14="http://schemas.microsoft.com/office/powerpoint/2010/main" val="3356410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0941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50941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50941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50941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50941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50941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50941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50941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50941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ECE Main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CEFB91-0E46-0049-83A0-416CE6334971}" type="slidenum">
              <a:rPr lang="en-US" smtClean="0">
                <a:solidFill>
                  <a:schemeClr val="bg1"/>
                </a:solidFill>
                <a:latin typeface="OfficinaSansITCStd Book"/>
                <a:cs typeface="OfficinaSansITCStd Book"/>
              </a:rPr>
              <a:t>1</a:t>
            </a:fld>
            <a:endParaRPr lang="en-US" dirty="0">
              <a:solidFill>
                <a:schemeClr val="bg1"/>
              </a:solidFill>
              <a:latin typeface="OfficinaSansITCStd Book"/>
              <a:cs typeface="OfficinaSansITCStd Book"/>
            </a:endParaRPr>
          </a:p>
        </p:txBody>
      </p:sp>
    </p:spTree>
    <p:extLst>
      <p:ext uri="{BB962C8B-B14F-4D97-AF65-F5344CB8AC3E}">
        <p14:creationId xmlns:p14="http://schemas.microsoft.com/office/powerpoint/2010/main" val="2124632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619125"/>
            <a:ext cx="4673600" cy="74295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4000" b="1" baseline="0">
                <a:solidFill>
                  <a:srgbClr val="142958"/>
                </a:solidFill>
                <a:latin typeface="Arial Narrow" panose="020B0606020202030204" pitchFamily="34" charset="0"/>
                <a:cs typeface="Arial Narrow" panose="020B0606020202030204" pitchFamily="34" charset="0"/>
              </a:defRPr>
            </a:lvl1pPr>
          </a:lstStyle>
          <a:p>
            <a:pPr lvl="0"/>
            <a:r>
              <a:rPr lang="en-US" dirty="0" smtClean="0"/>
              <a:t>ECE OVERVIEW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44500" y="1387191"/>
            <a:ext cx="4673600" cy="32731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700" baseline="0">
                <a:solidFill>
                  <a:srgbClr val="F16322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defRPr>
            </a:lvl1pPr>
          </a:lstStyle>
          <a:p>
            <a:pPr lvl="0"/>
            <a:r>
              <a:rPr lang="en-US" dirty="0" smtClean="0"/>
              <a:t>Brad Petersen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44500" y="1620796"/>
            <a:ext cx="4673600" cy="25090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200" b="0" i="0" baseline="0">
                <a:solidFill>
                  <a:srgbClr val="F16322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defRPr>
            </a:lvl1pPr>
          </a:lstStyle>
          <a:p>
            <a:pPr lvl="0"/>
            <a:r>
              <a:rPr lang="en-US" dirty="0" smtClean="0"/>
              <a:t>Director of Communications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460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592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ondary Slide w/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731519"/>
            <a:ext cx="4673600" cy="63055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 b="1" i="0" baseline="0">
                <a:solidFill>
                  <a:srgbClr val="142958"/>
                </a:solidFill>
                <a:latin typeface="Arial Narrow" panose="020B0606020202030204" pitchFamily="34" charset="0"/>
                <a:cs typeface="Arial Narrow" panose="020B0606020202030204" pitchFamily="34" charset="0"/>
              </a:defRPr>
            </a:lvl1pPr>
          </a:lstStyle>
          <a:p>
            <a:pPr lvl="0"/>
            <a:r>
              <a:rPr lang="en-US" dirty="0" smtClean="0"/>
              <a:t>TITLE OF SLIDE</a:t>
            </a:r>
            <a:endParaRPr lang="en-US" dirty="0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44500" y="1628416"/>
            <a:ext cx="9194800" cy="4602204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400" b="0" i="0" baseline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defRPr>
            </a:lvl1pPr>
          </a:lstStyle>
          <a:p>
            <a:pPr lvl="0"/>
            <a:r>
              <a:rPr lang="en-US" dirty="0" smtClean="0"/>
              <a:t>Body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340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ondary Slide w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990600"/>
            <a:ext cx="4673600" cy="74295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 b="1" baseline="0">
                <a:solidFill>
                  <a:srgbClr val="142958"/>
                </a:solidFill>
                <a:latin typeface="Arial Narrow" panose="020B0606020202030204" pitchFamily="34" charset="0"/>
                <a:cs typeface="Arial Narrow" panose="020B0606020202030204" pitchFamily="34" charset="0"/>
              </a:defRPr>
            </a:lvl1pPr>
          </a:lstStyle>
          <a:p>
            <a:pPr lvl="0"/>
            <a:r>
              <a:rPr lang="en-US" dirty="0" smtClean="0"/>
              <a:t>TITLE OF SLIDE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44500" y="1917700"/>
            <a:ext cx="9245600" cy="4826000"/>
          </a:xfrm>
          <a:prstGeom prst="rect">
            <a:avLst/>
          </a:prstGeom>
        </p:spPr>
        <p:txBody>
          <a:bodyPr vert="horz"/>
          <a:lstStyle>
            <a:lvl1pPr marL="382059" indent="-382059">
              <a:buFont typeface="Wingdings" panose="05000000000000000000" pitchFamily="2" charset="2"/>
              <a:buChar char="§"/>
              <a:defRPr b="0" i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defRPr>
            </a:lvl1pPr>
            <a:lvl2pPr>
              <a:defRPr b="0" i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defRPr>
            </a:lvl2pPr>
            <a:lvl3pPr>
              <a:defRPr b="0" i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defRPr>
            </a:lvl3pPr>
            <a:lvl4pPr>
              <a:defRPr b="0" i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defRPr>
            </a:lvl4pPr>
            <a:lvl5pPr>
              <a:defRPr b="0" i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746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ondary Slide w/Text &amp; 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619125"/>
            <a:ext cx="4673600" cy="74295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 b="1" baseline="0">
                <a:solidFill>
                  <a:srgbClr val="142958"/>
                </a:solidFill>
                <a:latin typeface="Arial Narrow" panose="020B0606020202030204" pitchFamily="34" charset="0"/>
                <a:cs typeface="Arial Narrow" panose="020B0606020202030204" pitchFamily="34" charset="0"/>
              </a:defRPr>
            </a:lvl1pPr>
          </a:lstStyle>
          <a:p>
            <a:pPr lvl="0"/>
            <a:r>
              <a:rPr lang="en-US" dirty="0" smtClean="0"/>
              <a:t>TITLE OF SLIDE</a:t>
            </a:r>
            <a:endParaRPr lang="en-US" dirty="0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44500" y="1608096"/>
            <a:ext cx="5956300" cy="4602204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000" b="0" i="0" baseline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defRPr>
            </a:lvl1pPr>
          </a:lstStyle>
          <a:p>
            <a:pPr lvl="0"/>
            <a:r>
              <a:rPr lang="en-US" dirty="0" smtClean="0"/>
              <a:t>Body Text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 hasCustomPrompt="1"/>
          </p:nvPr>
        </p:nvSpPr>
        <p:spPr>
          <a:xfrm>
            <a:off x="6642100" y="1608096"/>
            <a:ext cx="2962448" cy="4602204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800" baseline="0"/>
            </a:lvl1pPr>
          </a:lstStyle>
          <a:p>
            <a:pPr lvl="0"/>
            <a:r>
              <a:rPr lang="en-US" dirty="0" smtClean="0"/>
              <a:t>Click proper below image </a:t>
            </a:r>
          </a:p>
          <a:p>
            <a:pPr lvl="0"/>
            <a:r>
              <a:rPr lang="en-US" dirty="0" smtClean="0"/>
              <a:t>to insert media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666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ondary Slid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5322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ondary Slide w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619125"/>
            <a:ext cx="4673600" cy="74295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4000" b="1" baseline="0">
                <a:solidFill>
                  <a:srgbClr val="142958"/>
                </a:solidFill>
                <a:latin typeface="Arial Narrow" panose="020B0606020202030204" pitchFamily="34" charset="0"/>
                <a:cs typeface="Arial Narrow" panose="020B0606020202030204" pitchFamily="34" charset="0"/>
              </a:defRPr>
            </a:lvl1pPr>
          </a:lstStyle>
          <a:p>
            <a:pPr lvl="0"/>
            <a:r>
              <a:rPr lang="en-US" dirty="0" smtClean="0"/>
              <a:t>TITLE OF SLIDE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44500" y="1387191"/>
            <a:ext cx="4673600" cy="32731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700" baseline="0">
                <a:solidFill>
                  <a:srgbClr val="F16322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defRPr>
            </a:lvl1pPr>
          </a:lstStyle>
          <a:p>
            <a:pPr lvl="0"/>
            <a:r>
              <a:rPr lang="en-US" dirty="0" smtClean="0"/>
              <a:t>Subtitle (If Needed)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44500" y="1917700"/>
            <a:ext cx="9245600" cy="4826000"/>
          </a:xfrm>
          <a:prstGeom prst="rect">
            <a:avLst/>
          </a:prstGeom>
        </p:spPr>
        <p:txBody>
          <a:bodyPr vert="horz"/>
          <a:lstStyle>
            <a:lvl1pPr marL="342900" indent="-342900">
              <a:buFont typeface="Wingdings" panose="05000000000000000000" pitchFamily="2" charset="2"/>
              <a:buChar char="§"/>
              <a:defRPr sz="2200" b="0" i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defRPr>
            </a:lvl1pPr>
            <a:lvl2pPr marL="852312" indent="-342900">
              <a:buFont typeface="Wingdings" panose="05000000000000000000" pitchFamily="2" charset="2"/>
              <a:buChar char="§"/>
              <a:defRPr sz="2200" b="0" i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defRPr>
            </a:lvl2pPr>
            <a:lvl3pPr marL="1361725" indent="-342900">
              <a:buFont typeface="Wingdings" panose="05000000000000000000" pitchFamily="2" charset="2"/>
              <a:buChar char="§"/>
              <a:defRPr sz="2200" b="0" i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defRPr>
            </a:lvl3pPr>
            <a:lvl4pPr marL="1871137" indent="-342900">
              <a:buFont typeface="Wingdings" panose="05000000000000000000" pitchFamily="2" charset="2"/>
              <a:buChar char="§"/>
              <a:defRPr sz="2200" b="0" i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defRPr>
            </a:lvl4pPr>
            <a:lvl5pPr marL="2380549" indent="-342900">
              <a:buFont typeface="Wingdings" panose="05000000000000000000" pitchFamily="2" charset="2"/>
              <a:buChar char="§"/>
              <a:defRPr sz="2200" b="0" i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572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ster_bluesidebar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7400"/>
            <a:ext cx="101600" cy="1041400"/>
          </a:xfrm>
          <a:prstGeom prst="rect">
            <a:avLst/>
          </a:prstGeom>
        </p:spPr>
      </p:pic>
      <p:pic>
        <p:nvPicPr>
          <p:cNvPr id="6" name="Picture 5" descr="master_bottom2.eps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19600"/>
            <a:ext cx="10058400" cy="3352800"/>
          </a:xfrm>
          <a:prstGeom prst="rect">
            <a:avLst/>
          </a:prstGeom>
        </p:spPr>
      </p:pic>
      <p:pic>
        <p:nvPicPr>
          <p:cNvPr id="7" name="Picture 6" descr="Cover_BuildingCrop.jp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323" y="2880073"/>
            <a:ext cx="10100798" cy="150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756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7" r:id="rId2"/>
  </p:sldLayoutIdLst>
  <p:txStyles>
    <p:titleStyle>
      <a:lvl1pPr algn="ctr" defTabSz="509412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2059" indent="-382059" algn="l" defTabSz="509412" rtl="0" eaLnBrk="1" latinLnBrk="0" hangingPunct="1">
        <a:spcBef>
          <a:spcPct val="20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27795" indent="-318383" algn="l" defTabSz="509412" rtl="0" eaLnBrk="1" latinLnBrk="0" hangingPunct="1">
        <a:spcBef>
          <a:spcPct val="20000"/>
        </a:spcBef>
        <a:buFont typeface="Arial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73531" indent="-254706" algn="l" defTabSz="509412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82943" indent="-254706" algn="l" defTabSz="509412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92355" indent="-254706" algn="l" defTabSz="509412" rtl="0" eaLnBrk="1" latinLnBrk="0" hangingPunct="1">
        <a:spcBef>
          <a:spcPct val="20000"/>
        </a:spcBef>
        <a:buFont typeface="Arial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01767" indent="-254706" algn="l" defTabSz="509412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180" indent="-254706" algn="l" defTabSz="509412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592" indent="-254706" algn="l" defTabSz="509412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04" indent="-254706" algn="l" defTabSz="509412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941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50941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50941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50941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50941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50941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50941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50941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50941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nd_bottom.eps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85000"/>
            <a:ext cx="100584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32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6" r:id="rId2"/>
    <p:sldLayoutId id="2147483669" r:id="rId3"/>
    <p:sldLayoutId id="2147483668" r:id="rId4"/>
    <p:sldLayoutId id="2147483671" r:id="rId5"/>
  </p:sldLayoutIdLst>
  <p:txStyles>
    <p:titleStyle>
      <a:lvl1pPr algn="ctr" defTabSz="509412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2059" indent="-382059" algn="l" defTabSz="509412" rtl="0" eaLnBrk="1" latinLnBrk="0" hangingPunct="1">
        <a:spcBef>
          <a:spcPct val="20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27795" indent="-318383" algn="l" defTabSz="509412" rtl="0" eaLnBrk="1" latinLnBrk="0" hangingPunct="1">
        <a:spcBef>
          <a:spcPct val="20000"/>
        </a:spcBef>
        <a:buFont typeface="Arial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73531" indent="-254706" algn="l" defTabSz="509412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82943" indent="-254706" algn="l" defTabSz="509412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92355" indent="-254706" algn="l" defTabSz="509412" rtl="0" eaLnBrk="1" latinLnBrk="0" hangingPunct="1">
        <a:spcBef>
          <a:spcPct val="20000"/>
        </a:spcBef>
        <a:buFont typeface="Arial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01767" indent="-254706" algn="l" defTabSz="509412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180" indent="-254706" algn="l" defTabSz="509412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592" indent="-254706" algn="l" defTabSz="509412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04" indent="-254706" algn="l" defTabSz="509412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941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50941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50941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50941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50941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50941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50941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50941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50941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 txBox="1">
            <a:spLocks/>
          </p:cNvSpPr>
          <p:nvPr/>
        </p:nvSpPr>
        <p:spPr>
          <a:xfrm>
            <a:off x="444499" y="619125"/>
            <a:ext cx="9227401" cy="742950"/>
          </a:xfrm>
          <a:prstGeom prst="rect">
            <a:avLst/>
          </a:prstGeom>
        </p:spPr>
        <p:txBody>
          <a:bodyPr vert="horz"/>
          <a:lstStyle>
            <a:lvl1pPr marL="0" indent="0" algn="l" defTabSz="509412" rtl="0" eaLnBrk="1" latinLnBrk="0" hangingPunct="1">
              <a:spcBef>
                <a:spcPct val="20000"/>
              </a:spcBef>
              <a:buFont typeface="Arial"/>
              <a:buNone/>
              <a:defRPr sz="4000" kern="1200" baseline="0">
                <a:solidFill>
                  <a:srgbClr val="142958"/>
                </a:solidFill>
                <a:latin typeface="Vinyl OT Regular"/>
                <a:ea typeface="+mn-ea"/>
                <a:cs typeface="Vinyl OT Regular"/>
              </a:defRPr>
            </a:lvl1pPr>
            <a:lvl2pPr marL="827795" indent="-318383" algn="l" defTabSz="509412" rtl="0" eaLnBrk="1" latinLnBrk="0" hangingPunct="1">
              <a:spcBef>
                <a:spcPct val="20000"/>
              </a:spcBef>
              <a:buFont typeface="Arial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3531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2943" indent="-254706" algn="l" defTabSz="509412" rtl="0" eaLnBrk="1" latinLnBrk="0" hangingPunct="1">
              <a:spcBef>
                <a:spcPct val="20000"/>
              </a:spcBef>
              <a:buFont typeface="Arial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2355" indent="-254706" algn="l" defTabSz="509412" rtl="0" eaLnBrk="1" latinLnBrk="0" hangingPunct="1">
              <a:spcBef>
                <a:spcPct val="20000"/>
              </a:spcBef>
              <a:buFont typeface="Arial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1767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180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592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004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>
                <a:latin typeface="Arial Narrow" panose="020B0606020202030204" pitchFamily="34" charset="0"/>
              </a:rPr>
              <a:t>RECOLIFT: AN ANDROID WEAR FITNESS TRACKER FOR STRENGTH TRAINING</a:t>
            </a:r>
            <a:endParaRPr lang="en-US" b="1" dirty="0">
              <a:latin typeface="Arial Narrow" panose="020B0606020202030204" pitchFamily="34" charset="0"/>
            </a:endParaRPr>
          </a:p>
        </p:txBody>
      </p:sp>
      <p:sp>
        <p:nvSpPr>
          <p:cNvPr id="9" name="Text Placeholder 4"/>
          <p:cNvSpPr txBox="1">
            <a:spLocks/>
          </p:cNvSpPr>
          <p:nvPr/>
        </p:nvSpPr>
        <p:spPr>
          <a:xfrm>
            <a:off x="444500" y="2000296"/>
            <a:ext cx="4673600" cy="327310"/>
          </a:xfrm>
          <a:prstGeom prst="rect">
            <a:avLst/>
          </a:prstGeom>
        </p:spPr>
        <p:txBody>
          <a:bodyPr vert="horz"/>
          <a:lstStyle>
            <a:lvl1pPr marL="0" indent="0" algn="l" defTabSz="509412" rtl="0" eaLnBrk="1" latinLnBrk="0" hangingPunct="1">
              <a:spcBef>
                <a:spcPct val="20000"/>
              </a:spcBef>
              <a:buFont typeface="Arial"/>
              <a:buNone/>
              <a:defRPr sz="1700" kern="1200" baseline="0">
                <a:solidFill>
                  <a:srgbClr val="F16322"/>
                </a:solidFill>
                <a:latin typeface="OfficinaSansITCStd Bold"/>
                <a:ea typeface="+mn-ea"/>
                <a:cs typeface="OfficinaSansITCStd Bold"/>
              </a:defRPr>
            </a:lvl1pPr>
            <a:lvl2pPr marL="827795" indent="-318383" algn="l" defTabSz="509412" rtl="0" eaLnBrk="1" latinLnBrk="0" hangingPunct="1">
              <a:spcBef>
                <a:spcPct val="20000"/>
              </a:spcBef>
              <a:buFont typeface="Arial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3531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2943" indent="-254706" algn="l" defTabSz="509412" rtl="0" eaLnBrk="1" latinLnBrk="0" hangingPunct="1">
              <a:spcBef>
                <a:spcPct val="20000"/>
              </a:spcBef>
              <a:buFont typeface="Arial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2355" indent="-254706" algn="l" defTabSz="509412" rtl="0" eaLnBrk="1" latinLnBrk="0" hangingPunct="1">
              <a:spcBef>
                <a:spcPct val="20000"/>
              </a:spcBef>
              <a:buFont typeface="Arial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1767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180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592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004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Dario Aranguiz</a:t>
            </a:r>
            <a:endParaRPr lang="en-US" dirty="0" smtClean="0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sp>
        <p:nvSpPr>
          <p:cNvPr id="10" name="Text Placeholder 7"/>
          <p:cNvSpPr txBox="1">
            <a:spLocks/>
          </p:cNvSpPr>
          <p:nvPr/>
        </p:nvSpPr>
        <p:spPr>
          <a:xfrm>
            <a:off x="444500" y="2339525"/>
            <a:ext cx="4673600" cy="250908"/>
          </a:xfrm>
          <a:prstGeom prst="rect">
            <a:avLst/>
          </a:prstGeom>
        </p:spPr>
        <p:txBody>
          <a:bodyPr vert="horz"/>
          <a:lstStyle>
            <a:lvl1pPr marL="0" indent="0" algn="l" defTabSz="509412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rgbClr val="F16322"/>
                </a:solidFill>
                <a:latin typeface="OfficinaSansITCStd Book"/>
                <a:ea typeface="+mn-ea"/>
                <a:cs typeface="OfficinaSansITCStd Book"/>
              </a:defRPr>
            </a:lvl1pPr>
            <a:lvl2pPr marL="827795" indent="-318383" algn="l" defTabSz="509412" rtl="0" eaLnBrk="1" latinLnBrk="0" hangingPunct="1">
              <a:spcBef>
                <a:spcPct val="20000"/>
              </a:spcBef>
              <a:buFont typeface="Arial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3531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2943" indent="-254706" algn="l" defTabSz="509412" rtl="0" eaLnBrk="1" latinLnBrk="0" hangingPunct="1">
              <a:spcBef>
                <a:spcPct val="20000"/>
              </a:spcBef>
              <a:buFont typeface="Arial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2355" indent="-254706" algn="l" defTabSz="509412" rtl="0" eaLnBrk="1" latinLnBrk="0" hangingPunct="1">
              <a:spcBef>
                <a:spcPct val="20000"/>
              </a:spcBef>
              <a:buFont typeface="Arial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1767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180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592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004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Advisor: Professor </a:t>
            </a:r>
            <a:r>
              <a:rPr lang="en-US" dirty="0" err="1" smtClean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Romit</a:t>
            </a:r>
            <a:r>
              <a:rPr lang="en-US" dirty="0" smtClean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Roy Choudhury</a:t>
            </a:r>
            <a:endParaRPr lang="en-US" dirty="0">
              <a:latin typeface="Droid Sans Pro"/>
              <a:cs typeface="Droid Sans" panose="020B0606030804020204" pitchFamily="34" charset="0"/>
            </a:endParaRPr>
          </a:p>
          <a:p>
            <a:endParaRPr lang="en-US" sz="400" dirty="0"/>
          </a:p>
          <a:p>
            <a:r>
              <a:rPr lang="en-US" dirty="0" smtClean="0">
                <a:latin typeface="Droid Sans Pro"/>
                <a:cs typeface="Droid Sans" panose="020B0606030804020204" pitchFamily="34" charset="0"/>
              </a:rPr>
              <a:t>May 6, 2015</a:t>
            </a:r>
            <a:endParaRPr lang="en-US" dirty="0"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948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778366" y="6361041"/>
            <a:ext cx="4114800" cy="496862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1200" i="1" dirty="0" smtClean="0">
              <a:solidFill>
                <a:srgbClr val="38668F"/>
              </a:solidFill>
              <a:latin typeface="Droid Sans Pro"/>
              <a:cs typeface="Droid Sans Pro"/>
            </a:endParaRPr>
          </a:p>
          <a:p>
            <a:pPr marL="0" indent="0">
              <a:buNone/>
            </a:pPr>
            <a:r>
              <a:rPr lang="en-US" sz="1200" i="1" dirty="0" smtClean="0">
                <a:solidFill>
                  <a:srgbClr val="38668F"/>
                </a:solidFill>
              </a:rPr>
              <a:t>Pictured: Dan Green, jtsstrength.com</a:t>
            </a:r>
            <a:endParaRPr lang="en-US" sz="1200" i="1" dirty="0">
              <a:solidFill>
                <a:srgbClr val="38668F"/>
              </a:solidFill>
            </a:endParaRPr>
          </a:p>
        </p:txBody>
      </p:sp>
      <p:sp>
        <p:nvSpPr>
          <p:cNvPr id="11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764255" y="926374"/>
            <a:ext cx="5015430" cy="742950"/>
          </a:xfrm>
        </p:spPr>
        <p:txBody>
          <a:bodyPr/>
          <a:lstStyle/>
          <a:p>
            <a:r>
              <a:rPr lang="en-US" sz="3200" dirty="0" smtClean="0">
                <a:latin typeface="Arial Narrow"/>
                <a:ea typeface="Adobe Fan Heiti Std B" pitchFamily="34" charset="-128"/>
                <a:cs typeface="Arial Narrow"/>
              </a:rPr>
              <a:t>MOTIVATION</a:t>
            </a:r>
            <a:endParaRPr lang="en-US" sz="3200" b="1" dirty="0">
              <a:latin typeface="Arial Narrow"/>
              <a:ea typeface="Adobe Fan Heiti Std B" pitchFamily="34" charset="-128"/>
              <a:cs typeface="Arial Narrow"/>
            </a:endParaRP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764254" y="1494339"/>
            <a:ext cx="5015431" cy="5223159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>
                <a:solidFill>
                  <a:srgbClr val="002060"/>
                </a:solidFill>
                <a:latin typeface="Droid Sans Pro"/>
                <a:cs typeface="Droid Sans Pro"/>
              </a:rPr>
              <a:t>How do you marry interests in lifting, mobile, and DSP?</a:t>
            </a:r>
          </a:p>
          <a:p>
            <a:pPr marL="0" indent="0">
              <a:buNone/>
            </a:pPr>
            <a:endParaRPr lang="en-US" sz="2000" dirty="0" smtClean="0">
              <a:latin typeface="Droid Sans Pro"/>
              <a:cs typeface="Droid Sans Pro"/>
            </a:endParaRPr>
          </a:p>
          <a:p>
            <a:pPr marL="0" indent="0">
              <a:buNone/>
            </a:pPr>
            <a:r>
              <a:rPr lang="en-US" sz="2000" dirty="0" smtClean="0">
                <a:latin typeface="Droid Sans Pro"/>
                <a:cs typeface="Droid Sans Pro"/>
              </a:rPr>
              <a:t>A few thoughts:</a:t>
            </a:r>
          </a:p>
          <a:p>
            <a:r>
              <a:rPr lang="en-US" sz="2000" dirty="0" smtClean="0">
                <a:latin typeface="Droid Sans Pro"/>
                <a:cs typeface="Droid Sans Pro"/>
              </a:rPr>
              <a:t>1.5 million Apple Watches sold in two weeks</a:t>
            </a:r>
          </a:p>
          <a:p>
            <a:r>
              <a:rPr lang="en-US" sz="2000" dirty="0" smtClean="0">
                <a:latin typeface="Droid Sans Pro"/>
                <a:cs typeface="Droid Sans Pro"/>
              </a:rPr>
              <a:t>Almost 1 million Android Wear devices sold in 2014</a:t>
            </a:r>
          </a:p>
          <a:p>
            <a:r>
              <a:rPr lang="en-US" sz="2000" dirty="0" smtClean="0">
                <a:latin typeface="Droid Sans Pro"/>
                <a:cs typeface="Droid Sans Pro"/>
              </a:rPr>
              <a:t>Apple, Google creating health APIs</a:t>
            </a:r>
          </a:p>
          <a:p>
            <a:r>
              <a:rPr lang="en-US" sz="2000" dirty="0" smtClean="0">
                <a:latin typeface="Droid Sans Pro"/>
                <a:cs typeface="Droid Sans Pro"/>
              </a:rPr>
              <a:t>Few strength-training devices on market</a:t>
            </a:r>
          </a:p>
          <a:p>
            <a:endParaRPr lang="en-US" sz="2000" dirty="0">
              <a:latin typeface="Droid Sans Pro"/>
              <a:cs typeface="Droid Sans Pro"/>
            </a:endParaRPr>
          </a:p>
          <a:p>
            <a:pPr marL="0" indent="0">
              <a:buNone/>
            </a:pPr>
            <a:endParaRPr lang="en-US" sz="2000" dirty="0">
              <a:solidFill>
                <a:srgbClr val="002060"/>
              </a:solidFill>
              <a:latin typeface="Droid Sans Pro"/>
              <a:cs typeface="Droid Sans Pro"/>
            </a:endParaRPr>
          </a:p>
          <a:p>
            <a:pPr marL="0" indent="0">
              <a:buNone/>
            </a:pPr>
            <a:endParaRPr lang="en-US" sz="2000" dirty="0">
              <a:solidFill>
                <a:srgbClr val="002060"/>
              </a:solidFill>
              <a:latin typeface="Droid Sans Pro"/>
              <a:cs typeface="Droid Sans Pro"/>
            </a:endParaRPr>
          </a:p>
        </p:txBody>
      </p:sp>
      <p:pic>
        <p:nvPicPr>
          <p:cNvPr id="10" name="Picture 9" descr="Slide12_Holonyak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08500" cy="6985000"/>
          </a:xfrm>
          <a:prstGeom prst="rect">
            <a:avLst/>
          </a:prstGeom>
        </p:spPr>
      </p:pic>
      <p:pic>
        <p:nvPicPr>
          <p:cNvPr id="1026" name="Picture 2" descr="http://www.jtsstrength.com/wp-content/uploads/2013/01/527541_4042061092697_2097026545_n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1" r="13694"/>
          <a:stretch/>
        </p:blipFill>
        <p:spPr bwMode="auto">
          <a:xfrm>
            <a:off x="0" y="0"/>
            <a:ext cx="4506012" cy="6986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7607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778366" y="6361041"/>
            <a:ext cx="4114800" cy="496862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1200" i="1" dirty="0" smtClean="0">
              <a:solidFill>
                <a:srgbClr val="38668F"/>
              </a:solidFill>
              <a:latin typeface="Droid Sans Pro"/>
              <a:cs typeface="Droid Sans Pro"/>
            </a:endParaRPr>
          </a:p>
          <a:p>
            <a:pPr marL="0" indent="0">
              <a:buNone/>
            </a:pPr>
            <a:r>
              <a:rPr lang="en-US" sz="1200" i="1" dirty="0" smtClean="0">
                <a:solidFill>
                  <a:srgbClr val="38668F"/>
                </a:solidFill>
              </a:rPr>
              <a:t>Pictured: </a:t>
            </a:r>
            <a:r>
              <a:rPr lang="en-US" sz="1200" i="1" dirty="0">
                <a:solidFill>
                  <a:srgbClr val="38668F"/>
                </a:solidFill>
              </a:rPr>
              <a:t>Sony Smartwatch, http://</a:t>
            </a:r>
            <a:r>
              <a:rPr lang="en-US" sz="1200" i="1" dirty="0" smtClean="0">
                <a:solidFill>
                  <a:srgbClr val="38668F"/>
                </a:solidFill>
              </a:rPr>
              <a:t>www-static.se-mc.com</a:t>
            </a:r>
            <a:endParaRPr lang="en-US" sz="1200" i="1" dirty="0">
              <a:solidFill>
                <a:srgbClr val="38668F"/>
              </a:solidFill>
            </a:endParaRPr>
          </a:p>
        </p:txBody>
      </p:sp>
      <p:sp>
        <p:nvSpPr>
          <p:cNvPr id="11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764255" y="926374"/>
            <a:ext cx="5015430" cy="742950"/>
          </a:xfrm>
        </p:spPr>
        <p:txBody>
          <a:bodyPr/>
          <a:lstStyle/>
          <a:p>
            <a:r>
              <a:rPr lang="en-US" sz="3200" dirty="0" smtClean="0">
                <a:latin typeface="Arial Narrow"/>
                <a:ea typeface="Adobe Fan Heiti Std B" pitchFamily="34" charset="-128"/>
                <a:cs typeface="Arial Narrow"/>
              </a:rPr>
              <a:t>THE END GOAL</a:t>
            </a:r>
            <a:endParaRPr lang="en-US" sz="3200" b="1" dirty="0">
              <a:latin typeface="Arial Narrow"/>
              <a:ea typeface="Adobe Fan Heiti Std B" pitchFamily="34" charset="-128"/>
              <a:cs typeface="Arial Narrow"/>
            </a:endParaRP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764254" y="1494339"/>
            <a:ext cx="5015431" cy="5223159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>
                <a:latin typeface="Droid Sans Pro"/>
                <a:cs typeface="Droid Sans Pro"/>
              </a:rPr>
              <a:t>To create an application which:</a:t>
            </a:r>
          </a:p>
          <a:p>
            <a:r>
              <a:rPr lang="en-US" sz="2000" i="1" dirty="0" smtClean="0">
                <a:latin typeface="Droid Sans Pro"/>
                <a:cs typeface="Droid Sans Pro"/>
              </a:rPr>
              <a:t>Tracks lift types, sets, and reps</a:t>
            </a:r>
          </a:p>
          <a:p>
            <a:r>
              <a:rPr lang="en-US" sz="2000" i="1" dirty="0" smtClean="0">
                <a:latin typeface="Droid Sans Pro"/>
                <a:cs typeface="Droid Sans Pro"/>
              </a:rPr>
              <a:t>Requires no user input</a:t>
            </a:r>
          </a:p>
          <a:p>
            <a:r>
              <a:rPr lang="en-US" sz="2000" i="1" dirty="0" smtClean="0">
                <a:latin typeface="Droid Sans Pro"/>
                <a:cs typeface="Droid Sans Pro"/>
              </a:rPr>
              <a:t>Uses off-the-shelf hardware</a:t>
            </a:r>
          </a:p>
          <a:p>
            <a:pPr marL="0" indent="0">
              <a:buNone/>
            </a:pPr>
            <a:endParaRPr lang="en-US" sz="2000" dirty="0">
              <a:latin typeface="Droid Sans Pro"/>
              <a:cs typeface="Droid Sans Pro"/>
            </a:endParaRPr>
          </a:p>
          <a:p>
            <a:pPr marL="0" indent="0">
              <a:buNone/>
            </a:pPr>
            <a:endParaRPr lang="en-US" sz="2000" dirty="0">
              <a:latin typeface="Droid Sans Pro"/>
              <a:cs typeface="Droid Sans Pro"/>
            </a:endParaRPr>
          </a:p>
          <a:p>
            <a:pPr marL="0" indent="0">
              <a:buNone/>
            </a:pPr>
            <a:endParaRPr lang="en-US" sz="2000" dirty="0">
              <a:solidFill>
                <a:srgbClr val="002060"/>
              </a:solidFill>
              <a:latin typeface="Droid Sans Pro"/>
              <a:cs typeface="Droid Sans Pro"/>
            </a:endParaRPr>
          </a:p>
          <a:p>
            <a:pPr marL="0" indent="0">
              <a:buNone/>
            </a:pPr>
            <a:endParaRPr lang="en-US" sz="2000" dirty="0">
              <a:solidFill>
                <a:srgbClr val="002060"/>
              </a:solidFill>
              <a:latin typeface="Droid Sans Pro"/>
              <a:cs typeface="Droid Sans Pro"/>
            </a:endParaRPr>
          </a:p>
        </p:txBody>
      </p:sp>
      <p:pic>
        <p:nvPicPr>
          <p:cNvPr id="10" name="Picture 9" descr="Slide12_Holonyak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08500" cy="6985000"/>
          </a:xfrm>
          <a:prstGeom prst="rect">
            <a:avLst/>
          </a:prstGeom>
        </p:spPr>
      </p:pic>
      <p:pic>
        <p:nvPicPr>
          <p:cNvPr id="1026" name="Picture 2" descr="http://www.jtsstrength.com/wp-content/uploads/2013/01/527541_4042061092697_2097026545_n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1" r="13694"/>
          <a:stretch/>
        </p:blipFill>
        <p:spPr bwMode="auto">
          <a:xfrm>
            <a:off x="0" y="0"/>
            <a:ext cx="4506012" cy="6986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31236" r="28191"/>
          <a:stretch/>
        </p:blipFill>
        <p:spPr>
          <a:xfrm>
            <a:off x="0" y="-10530"/>
            <a:ext cx="4526280" cy="699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286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44500" y="1917700"/>
            <a:ext cx="9245600" cy="2069838"/>
          </a:xfrm>
        </p:spPr>
        <p:txBody>
          <a:bodyPr/>
          <a:lstStyle/>
          <a:p>
            <a:r>
              <a:rPr lang="en-US" sz="3200" b="1" dirty="0" smtClean="0"/>
              <a:t>Segmenting </a:t>
            </a:r>
            <a:r>
              <a:rPr lang="en-US" sz="3200" dirty="0" smtClean="0"/>
              <a:t>exercise from non-exercise</a:t>
            </a:r>
          </a:p>
          <a:p>
            <a:r>
              <a:rPr lang="en-US" sz="3200" b="1" dirty="0" smtClean="0"/>
              <a:t>Recognizing</a:t>
            </a:r>
            <a:r>
              <a:rPr lang="en-US" sz="3200" dirty="0" smtClean="0"/>
              <a:t> which lift is being performed</a:t>
            </a:r>
          </a:p>
          <a:p>
            <a:r>
              <a:rPr lang="en-US" sz="3200" b="1" dirty="0" smtClean="0"/>
              <a:t>Counting</a:t>
            </a:r>
            <a:r>
              <a:rPr lang="en-US" sz="3200" dirty="0" smtClean="0"/>
              <a:t> repetitions with a noisy signal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207" y="4086726"/>
            <a:ext cx="5194318" cy="12140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40" r="24220"/>
          <a:stretch/>
        </p:blipFill>
        <p:spPr>
          <a:xfrm>
            <a:off x="3384223" y="5300766"/>
            <a:ext cx="5194169" cy="15285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11766" y="4185914"/>
            <a:ext cx="1789653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900" dirty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Curl Accelerometer</a:t>
            </a:r>
          </a:p>
          <a:p>
            <a:pPr algn="r"/>
            <a:r>
              <a:rPr lang="en-US" sz="1900" dirty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Data</a:t>
            </a:r>
            <a:endParaRPr lang="en-US" sz="1900" dirty="0">
              <a:solidFill>
                <a:srgbClr val="002060"/>
              </a:solidFill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11765" y="5557228"/>
            <a:ext cx="1789653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900" dirty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Squat Accelerometer</a:t>
            </a:r>
          </a:p>
          <a:p>
            <a:pPr algn="r"/>
            <a:r>
              <a:rPr lang="en-US" sz="1900" dirty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Data</a:t>
            </a:r>
            <a:endParaRPr lang="en-US" sz="1900" dirty="0">
              <a:solidFill>
                <a:srgbClr val="002060"/>
              </a:solidFill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853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PREPROCESSING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382059" lvl="0" indent="-382059">
              <a:buFont typeface="Wingdings" panose="05000000000000000000" pitchFamily="2" charset="2"/>
              <a:buChar char="§"/>
            </a:pPr>
            <a:r>
              <a:rPr lang="en-US" sz="2800" b="1" dirty="0" smtClean="0"/>
              <a:t>Resample</a:t>
            </a:r>
            <a:endParaRPr lang="en-US" sz="2800" b="1" dirty="0"/>
          </a:p>
          <a:p>
            <a:pPr lvl="1"/>
            <a:r>
              <a:rPr lang="en-US" sz="2400" dirty="0" smtClean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25Hz Zero Order Hold</a:t>
            </a:r>
            <a:endParaRPr lang="en-US" sz="2400" dirty="0">
              <a:solidFill>
                <a:srgbClr val="002060"/>
              </a:solidFill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  <a:p>
            <a:pPr marL="382059" lvl="0" indent="-382059">
              <a:buFont typeface="Wingdings" panose="05000000000000000000" pitchFamily="2" charset="2"/>
              <a:buChar char="§"/>
            </a:pPr>
            <a:r>
              <a:rPr lang="en-US" sz="2800" b="1" dirty="0" smtClean="0"/>
              <a:t>Low pass filter</a:t>
            </a:r>
          </a:p>
          <a:p>
            <a:pPr lvl="1"/>
            <a:r>
              <a:rPr lang="en-US" sz="2400" dirty="0" smtClean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12Hz 5</a:t>
            </a:r>
            <a:r>
              <a:rPr lang="en-US" sz="2400" baseline="30000" dirty="0" smtClean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th</a:t>
            </a:r>
            <a:r>
              <a:rPr lang="en-US" sz="2400" dirty="0" smtClean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Order Butterworth</a:t>
            </a:r>
            <a:endParaRPr lang="en-US" sz="5000" dirty="0" smtClean="0"/>
          </a:p>
          <a:p>
            <a:pPr marL="382059" lvl="0" indent="-382059">
              <a:buFont typeface="Wingdings" panose="05000000000000000000" pitchFamily="2" charset="2"/>
              <a:buChar char="§"/>
            </a:pPr>
            <a:r>
              <a:rPr lang="en-US" sz="2800" b="1" dirty="0" smtClean="0"/>
              <a:t>Compute new signals</a:t>
            </a:r>
            <a:endParaRPr lang="en-US" sz="3900" dirty="0"/>
          </a:p>
          <a:p>
            <a:pPr lvl="1"/>
            <a:r>
              <a:rPr lang="en-US" sz="2400" dirty="0" smtClean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Magnitude</a:t>
            </a:r>
          </a:p>
          <a:p>
            <a:pPr lvl="1"/>
            <a:r>
              <a:rPr lang="en-US" sz="2400" dirty="0" smtClean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Projection onto PCA axis</a:t>
            </a:r>
            <a:endParaRPr lang="en-US" sz="2800" b="1" dirty="0" smtClean="0"/>
          </a:p>
        </p:txBody>
      </p:sp>
      <p:pic>
        <p:nvPicPr>
          <p:cNvPr id="3074" name="Picture 2" descr="http://weigend.com/files/teaching/stanford/2008/stanford2008.wikispaces.com/file/view/pca_example.gif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8361" y="2949249"/>
            <a:ext cx="4870538" cy="3660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3"/>
          <p:cNvSpPr txBox="1">
            <a:spLocks/>
          </p:cNvSpPr>
          <p:nvPr/>
        </p:nvSpPr>
        <p:spPr>
          <a:xfrm>
            <a:off x="5561160" y="6609472"/>
            <a:ext cx="4114800" cy="496862"/>
          </a:xfrm>
          <a:prstGeom prst="rect">
            <a:avLst/>
          </a:prstGeom>
        </p:spPr>
        <p:txBody>
          <a:bodyPr vert="horz"/>
          <a:lstStyle>
            <a:lvl1pPr marL="0" indent="0" algn="l" defTabSz="509412" rtl="0" eaLnBrk="1" latinLnBrk="0" hangingPunct="1">
              <a:spcBef>
                <a:spcPct val="20000"/>
              </a:spcBef>
              <a:buFont typeface="Arial"/>
              <a:buNone/>
              <a:defRPr sz="2000" b="0" i="0" kern="1200" baseline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defRPr>
            </a:lvl1pPr>
            <a:lvl2pPr marL="827795" indent="-318383" algn="l" defTabSz="509412" rtl="0" eaLnBrk="1" latinLnBrk="0" hangingPunct="1">
              <a:spcBef>
                <a:spcPct val="20000"/>
              </a:spcBef>
              <a:buFont typeface="Arial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3531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2943" indent="-254706" algn="l" defTabSz="509412" rtl="0" eaLnBrk="1" latinLnBrk="0" hangingPunct="1">
              <a:spcBef>
                <a:spcPct val="20000"/>
              </a:spcBef>
              <a:buFont typeface="Arial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2355" indent="-254706" algn="l" defTabSz="509412" rtl="0" eaLnBrk="1" latinLnBrk="0" hangingPunct="1">
              <a:spcBef>
                <a:spcPct val="20000"/>
              </a:spcBef>
              <a:buFont typeface="Arial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1767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180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592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004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200" i="1" dirty="0" smtClean="0">
                <a:solidFill>
                  <a:srgbClr val="38668F"/>
                </a:solidFill>
                <a:latin typeface="Droid Sans Pro"/>
              </a:rPr>
              <a:t>Pictured: PCA example, weigend.com</a:t>
            </a:r>
            <a:endParaRPr lang="en-US" sz="1200" i="1" dirty="0">
              <a:solidFill>
                <a:srgbClr val="3866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181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44500" y="990600"/>
            <a:ext cx="6031714" cy="742950"/>
          </a:xfrm>
        </p:spPr>
        <p:txBody>
          <a:bodyPr/>
          <a:lstStyle/>
          <a:p>
            <a:r>
              <a:rPr lang="en-US" dirty="0" smtClean="0"/>
              <a:t>SEGMENTATION - FUNDAMENTALS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200" dirty="0" smtClean="0"/>
              <a:t>Primary intuition</a:t>
            </a:r>
          </a:p>
          <a:p>
            <a:pPr lvl="1"/>
            <a:r>
              <a:rPr lang="en-US" sz="2800" dirty="0" smtClean="0"/>
              <a:t>Exercise is </a:t>
            </a:r>
            <a:r>
              <a:rPr lang="en-US" sz="2800" i="1" dirty="0" smtClean="0"/>
              <a:t>periodic</a:t>
            </a:r>
          </a:p>
          <a:p>
            <a:pPr lvl="1"/>
            <a:r>
              <a:rPr lang="en-US" sz="2800" dirty="0" smtClean="0"/>
              <a:t>Non-exercise is </a:t>
            </a:r>
            <a:r>
              <a:rPr lang="en-US" sz="2800" i="1" dirty="0" smtClean="0"/>
              <a:t>aperiodic</a:t>
            </a:r>
            <a:endParaRPr lang="en-US" sz="2800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33083"/>
          <a:stretch/>
        </p:blipFill>
        <p:spPr>
          <a:xfrm>
            <a:off x="3171390" y="5304899"/>
            <a:ext cx="5199612" cy="12161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1390" y="3962202"/>
            <a:ext cx="5194318" cy="1214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4949" y="4061390"/>
            <a:ext cx="1789653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900" dirty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Curl Accelerometer</a:t>
            </a:r>
          </a:p>
          <a:p>
            <a:pPr algn="r"/>
            <a:r>
              <a:rPr lang="en-US" sz="1900" dirty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Data</a:t>
            </a:r>
            <a:endParaRPr lang="en-US" sz="1900" dirty="0">
              <a:solidFill>
                <a:srgbClr val="002060"/>
              </a:solidFill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4949" y="5304899"/>
            <a:ext cx="1789653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900" dirty="0" smtClean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Idling Accelerometer</a:t>
            </a:r>
            <a:endParaRPr lang="en-US" sz="1900" dirty="0">
              <a:solidFill>
                <a:srgbClr val="002060"/>
              </a:solidFill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  <a:p>
            <a:pPr algn="r"/>
            <a:r>
              <a:rPr lang="en-US" sz="1900" dirty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Data</a:t>
            </a:r>
            <a:endParaRPr lang="en-US" sz="1900" dirty="0">
              <a:solidFill>
                <a:srgbClr val="002060"/>
              </a:solidFill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717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44499" y="990600"/>
            <a:ext cx="5645215" cy="742950"/>
          </a:xfrm>
        </p:spPr>
        <p:txBody>
          <a:bodyPr/>
          <a:lstStyle/>
          <a:p>
            <a:r>
              <a:rPr lang="en-US" dirty="0" smtClean="0"/>
              <a:t>SEGMENTATION - PROCESS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200" dirty="0" smtClean="0"/>
              <a:t>Compute signal autocorrelation</a:t>
            </a:r>
          </a:p>
          <a:p>
            <a:r>
              <a:rPr lang="en-US" sz="3200" dirty="0" smtClean="0"/>
              <a:t>Extract features</a:t>
            </a:r>
          </a:p>
          <a:p>
            <a:r>
              <a:rPr lang="en-US" sz="3200" dirty="0" smtClean="0"/>
              <a:t>Classify with SVM</a:t>
            </a:r>
          </a:p>
          <a:p>
            <a:pPr lvl="1"/>
            <a:r>
              <a:rPr lang="en-US" sz="2800" dirty="0" smtClean="0"/>
              <a:t>Majority vote </a:t>
            </a:r>
          </a:p>
        </p:txBody>
      </p:sp>
      <p:sp>
        <p:nvSpPr>
          <p:cNvPr id="5" name="Text Placeholder 3"/>
          <p:cNvSpPr txBox="1">
            <a:spLocks/>
          </p:cNvSpPr>
          <p:nvPr/>
        </p:nvSpPr>
        <p:spPr>
          <a:xfrm>
            <a:off x="5561160" y="6609472"/>
            <a:ext cx="4114800" cy="496862"/>
          </a:xfrm>
          <a:prstGeom prst="rect">
            <a:avLst/>
          </a:prstGeom>
        </p:spPr>
        <p:txBody>
          <a:bodyPr vert="horz"/>
          <a:lstStyle>
            <a:lvl1pPr marL="0" indent="0" algn="l" defTabSz="509412" rtl="0" eaLnBrk="1" latinLnBrk="0" hangingPunct="1">
              <a:spcBef>
                <a:spcPct val="20000"/>
              </a:spcBef>
              <a:buFont typeface="Arial"/>
              <a:buNone/>
              <a:defRPr sz="2000" b="0" i="0" kern="1200" baseline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defRPr>
            </a:lvl1pPr>
            <a:lvl2pPr marL="827795" indent="-318383" algn="l" defTabSz="509412" rtl="0" eaLnBrk="1" latinLnBrk="0" hangingPunct="1">
              <a:spcBef>
                <a:spcPct val="20000"/>
              </a:spcBef>
              <a:buFont typeface="Arial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3531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2943" indent="-254706" algn="l" defTabSz="509412" rtl="0" eaLnBrk="1" latinLnBrk="0" hangingPunct="1">
              <a:spcBef>
                <a:spcPct val="20000"/>
              </a:spcBef>
              <a:buFont typeface="Arial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2355" indent="-254706" algn="l" defTabSz="509412" rtl="0" eaLnBrk="1" latinLnBrk="0" hangingPunct="1">
              <a:spcBef>
                <a:spcPct val="20000"/>
              </a:spcBef>
              <a:buFont typeface="Arial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1767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180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592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004" indent="-254706" algn="l" defTabSz="509412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endParaRPr lang="en-US" sz="1200" i="1" dirty="0">
              <a:solidFill>
                <a:srgbClr val="38668F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400" y="2859656"/>
            <a:ext cx="5357785" cy="399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99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44500" y="990600"/>
            <a:ext cx="6493628" cy="742950"/>
          </a:xfrm>
        </p:spPr>
        <p:txBody>
          <a:bodyPr/>
          <a:lstStyle/>
          <a:p>
            <a:r>
              <a:rPr lang="en-US" dirty="0" smtClean="0"/>
              <a:t>SEGMENTATION - AUTOCORRELATION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70" y="2152088"/>
            <a:ext cx="4860827" cy="36273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5197" y="2149312"/>
            <a:ext cx="4864547" cy="363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918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RECOGNITION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200" dirty="0" smtClean="0"/>
              <a:t>Extract features</a:t>
            </a:r>
          </a:p>
          <a:p>
            <a:pPr lvl="1"/>
            <a:r>
              <a:rPr lang="en-US" sz="2800" dirty="0" smtClean="0"/>
              <a:t>Autocorrelation</a:t>
            </a:r>
          </a:p>
          <a:p>
            <a:pPr lvl="1"/>
            <a:r>
              <a:rPr lang="en-US" sz="2800" dirty="0" smtClean="0"/>
              <a:t>Mean, Standard Deviation, </a:t>
            </a:r>
            <a:r>
              <a:rPr lang="en-US" sz="2800" dirty="0" err="1" smtClean="0"/>
              <a:t>etc</a:t>
            </a:r>
            <a:endParaRPr lang="en-US" sz="2800" dirty="0" smtClean="0"/>
          </a:p>
          <a:p>
            <a:r>
              <a:rPr lang="en-US" sz="3300" dirty="0" smtClean="0"/>
              <a:t>Classify with SVM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706" y="4185222"/>
            <a:ext cx="5194318" cy="12140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40" r="24220"/>
          <a:stretch/>
        </p:blipFill>
        <p:spPr>
          <a:xfrm>
            <a:off x="3770722" y="5399262"/>
            <a:ext cx="5194169" cy="15285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8265" y="4284410"/>
            <a:ext cx="1789653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900" dirty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Curl Accelerometer</a:t>
            </a:r>
          </a:p>
          <a:p>
            <a:pPr algn="r"/>
            <a:r>
              <a:rPr lang="en-US" sz="1900" dirty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Data</a:t>
            </a:r>
            <a:endParaRPr lang="en-US" sz="1900" dirty="0">
              <a:solidFill>
                <a:srgbClr val="002060"/>
              </a:solidFill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98264" y="5655724"/>
            <a:ext cx="1789653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900" dirty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Squat Accelerometer</a:t>
            </a:r>
          </a:p>
          <a:p>
            <a:pPr algn="r"/>
            <a:r>
              <a:rPr lang="en-US" sz="1900" dirty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Data</a:t>
            </a:r>
            <a:endParaRPr lang="en-US" sz="1900" dirty="0">
              <a:solidFill>
                <a:srgbClr val="002060"/>
              </a:solidFill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741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44499" y="619125"/>
            <a:ext cx="5664069" cy="742950"/>
          </a:xfrm>
        </p:spPr>
        <p:txBody>
          <a:bodyPr/>
          <a:lstStyle/>
          <a:p>
            <a:r>
              <a:rPr lang="en-US" dirty="0" smtClean="0"/>
              <a:t>COUNTING – ALGORITHM (1)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44500" y="1608096"/>
            <a:ext cx="4561133" cy="4602204"/>
          </a:xfrm>
        </p:spPr>
        <p:txBody>
          <a:bodyPr/>
          <a:lstStyle/>
          <a:p>
            <a:pPr marL="382059" lvl="0" indent="-382059">
              <a:buFont typeface="Wingdings" panose="05000000000000000000" pitchFamily="2" charset="2"/>
              <a:buChar char="§"/>
            </a:pPr>
            <a:r>
              <a:rPr lang="en-US" sz="3200" dirty="0"/>
              <a:t>Find all local </a:t>
            </a:r>
            <a:r>
              <a:rPr lang="en-US" sz="3200" dirty="0" smtClean="0"/>
              <a:t>maxima</a:t>
            </a:r>
          </a:p>
          <a:p>
            <a:pPr lvl="1"/>
            <a:r>
              <a:rPr lang="en-US" sz="2700" dirty="0" smtClean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Constrained to some minimum period between peaks</a:t>
            </a:r>
            <a:endParaRPr lang="en-US" sz="2700" i="1" dirty="0" smtClean="0">
              <a:solidFill>
                <a:srgbClr val="002060"/>
              </a:solidFill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  <a:p>
            <a:pPr marL="382059" lvl="0" indent="-382059">
              <a:buFont typeface="Wingdings" panose="05000000000000000000" pitchFamily="2" charset="2"/>
              <a:buChar char="§"/>
            </a:pPr>
            <a:endParaRPr lang="en-US" sz="3200" dirty="0"/>
          </a:p>
          <a:p>
            <a:endParaRPr lang="en-US" sz="3200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5776" y="2350008"/>
            <a:ext cx="4721290" cy="3523262"/>
          </a:xfrm>
        </p:spPr>
      </p:pic>
    </p:spTree>
    <p:extLst>
      <p:ext uri="{BB962C8B-B14F-4D97-AF65-F5344CB8AC3E}">
        <p14:creationId xmlns:p14="http://schemas.microsoft.com/office/powerpoint/2010/main" val="5580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44500" y="619125"/>
            <a:ext cx="5060754" cy="742950"/>
          </a:xfrm>
        </p:spPr>
        <p:txBody>
          <a:bodyPr/>
          <a:lstStyle/>
          <a:p>
            <a:r>
              <a:rPr lang="en-US" dirty="0" smtClean="0"/>
              <a:t>COUNTING – ALGORITHM (2)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44500" y="1608096"/>
            <a:ext cx="4947632" cy="4602204"/>
          </a:xfrm>
        </p:spPr>
        <p:txBody>
          <a:bodyPr/>
          <a:lstStyle/>
          <a:p>
            <a:pPr marL="382059" lvl="0" indent="-382059">
              <a:buFont typeface="Wingdings" panose="05000000000000000000" pitchFamily="2" charset="2"/>
              <a:buChar char="§"/>
            </a:pPr>
            <a:r>
              <a:rPr lang="en-US" sz="3200" dirty="0"/>
              <a:t>Perform autocorrelation around each peak</a:t>
            </a:r>
          </a:p>
          <a:p>
            <a:pPr lvl="1"/>
            <a:r>
              <a:rPr lang="en-US" sz="2800" dirty="0" smtClean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Determine local period</a:t>
            </a:r>
          </a:p>
          <a:p>
            <a:pPr lvl="1"/>
            <a:r>
              <a:rPr lang="en-US" sz="2800" dirty="0" smtClean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Cull </a:t>
            </a:r>
            <a:r>
              <a:rPr lang="en-US" sz="2800" dirty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any </a:t>
            </a:r>
            <a:r>
              <a:rPr lang="en-US" sz="2800" dirty="0" smtClean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peaks that occur too close</a:t>
            </a:r>
            <a:endParaRPr lang="en-US" sz="2800" dirty="0">
              <a:solidFill>
                <a:srgbClr val="002060"/>
              </a:solidFill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514" y="2351433"/>
            <a:ext cx="4717509" cy="3520440"/>
          </a:xfrm>
        </p:spPr>
      </p:pic>
    </p:spTree>
    <p:extLst>
      <p:ext uri="{BB962C8B-B14F-4D97-AF65-F5344CB8AC3E}">
        <p14:creationId xmlns:p14="http://schemas.microsoft.com/office/powerpoint/2010/main" val="304537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44500" y="619125"/>
            <a:ext cx="5060754" cy="742950"/>
          </a:xfrm>
        </p:spPr>
        <p:txBody>
          <a:bodyPr/>
          <a:lstStyle/>
          <a:p>
            <a:r>
              <a:rPr lang="en-US" dirty="0" smtClean="0"/>
              <a:t>COUNTING – ALGORITHM (3)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44500" y="1608096"/>
            <a:ext cx="4947632" cy="4602204"/>
          </a:xfrm>
        </p:spPr>
        <p:txBody>
          <a:bodyPr/>
          <a:lstStyle/>
          <a:p>
            <a:pPr marL="382059" lvl="0" indent="-382059">
              <a:buFont typeface="Wingdings" panose="05000000000000000000" pitchFamily="2" charset="2"/>
              <a:buChar char="§"/>
            </a:pPr>
            <a:r>
              <a:rPr lang="en-US" sz="3200" dirty="0" smtClean="0"/>
              <a:t>Find peak at 40</a:t>
            </a:r>
            <a:r>
              <a:rPr lang="en-US" sz="3200" baseline="30000" dirty="0" smtClean="0"/>
              <a:t>th</a:t>
            </a:r>
            <a:r>
              <a:rPr lang="en-US" sz="3200" dirty="0" smtClean="0"/>
              <a:t> percentile</a:t>
            </a:r>
          </a:p>
          <a:p>
            <a:pPr lvl="1"/>
            <a:r>
              <a:rPr lang="en-US" sz="2800" dirty="0" smtClean="0">
                <a:solidFill>
                  <a:srgbClr val="00206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Cull all peaks less than 50% of that peak</a:t>
            </a:r>
            <a:endParaRPr lang="en-US" sz="2800" dirty="0">
              <a:solidFill>
                <a:srgbClr val="002060"/>
              </a:solidFill>
              <a:latin typeface="Droid Sans" panose="020B0606030804020204" pitchFamily="34" charset="0"/>
              <a:ea typeface="Droid Sans" panose="020B0606030804020204" pitchFamily="34" charset="0"/>
              <a:cs typeface="Droid Sans" panose="020B0606030804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514" y="2351433"/>
            <a:ext cx="4717509" cy="3520440"/>
          </a:xfrm>
        </p:spPr>
      </p:pic>
    </p:spTree>
    <p:extLst>
      <p:ext uri="{BB962C8B-B14F-4D97-AF65-F5344CB8AC3E}">
        <p14:creationId xmlns:p14="http://schemas.microsoft.com/office/powerpoint/2010/main" val="422505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764255" y="926374"/>
            <a:ext cx="5015430" cy="742950"/>
          </a:xfrm>
        </p:spPr>
        <p:txBody>
          <a:bodyPr/>
          <a:lstStyle/>
          <a:p>
            <a:r>
              <a:rPr lang="en-US" sz="3200" dirty="0" smtClean="0">
                <a:latin typeface="Arial Narrow"/>
                <a:ea typeface="Adobe Fan Heiti Std B" pitchFamily="34" charset="-128"/>
                <a:cs typeface="Arial Narrow"/>
              </a:rPr>
              <a:t>RESULTS</a:t>
            </a:r>
            <a:endParaRPr lang="en-US" sz="3200" b="1" dirty="0">
              <a:latin typeface="Arial Narrow"/>
              <a:ea typeface="Adobe Fan Heiti Std B" pitchFamily="34" charset="-128"/>
              <a:cs typeface="Arial Narrow"/>
            </a:endParaRP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764254" y="1494339"/>
            <a:ext cx="5015431" cy="5223159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>
                <a:solidFill>
                  <a:srgbClr val="002060"/>
                </a:solidFill>
                <a:latin typeface="Droid Sans Pro"/>
                <a:cs typeface="Droid Sans Pro"/>
              </a:rPr>
              <a:t>Battery Drain: ~10% per hour</a:t>
            </a:r>
          </a:p>
          <a:p>
            <a:pPr marL="0" indent="0">
              <a:buNone/>
            </a:pPr>
            <a:r>
              <a:rPr lang="en-US" sz="2000" dirty="0" smtClean="0">
                <a:latin typeface="Droid Sans Pro"/>
                <a:cs typeface="Droid Sans Pro"/>
              </a:rPr>
              <a:t>Accuracy: Need more training data</a:t>
            </a:r>
            <a:endParaRPr lang="en-US" sz="2000" dirty="0" smtClean="0">
              <a:solidFill>
                <a:srgbClr val="002060"/>
              </a:solidFill>
              <a:latin typeface="Droid Sans Pro"/>
              <a:cs typeface="Droid Sans Pro"/>
            </a:endParaRPr>
          </a:p>
          <a:p>
            <a:pPr marL="0" indent="0">
              <a:buNone/>
            </a:pPr>
            <a:endParaRPr lang="en-US" sz="2000" dirty="0">
              <a:latin typeface="Droid Sans Pro"/>
              <a:cs typeface="Droid Sans Pro"/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rgbClr val="002060"/>
                </a:solidFill>
                <a:latin typeface="Droid Sans Pro"/>
                <a:cs typeface="Droid Sans Pro"/>
              </a:rPr>
              <a:t>Current supported lifts:</a:t>
            </a:r>
          </a:p>
          <a:p>
            <a:r>
              <a:rPr lang="en-US" sz="2000" dirty="0" smtClean="0">
                <a:latin typeface="Droid Sans Pro"/>
                <a:cs typeface="Droid Sans Pro"/>
              </a:rPr>
              <a:t>Bench Press</a:t>
            </a:r>
          </a:p>
          <a:p>
            <a:r>
              <a:rPr lang="en-US" sz="2000" dirty="0" smtClean="0">
                <a:latin typeface="Droid Sans Pro"/>
                <a:cs typeface="Droid Sans Pro"/>
              </a:rPr>
              <a:t>Overhead Press</a:t>
            </a:r>
          </a:p>
          <a:p>
            <a:r>
              <a:rPr lang="en-US" sz="2000" dirty="0" smtClean="0">
                <a:latin typeface="Droid Sans Pro"/>
                <a:cs typeface="Droid Sans Pro"/>
              </a:rPr>
              <a:t>Squat</a:t>
            </a:r>
          </a:p>
          <a:p>
            <a:r>
              <a:rPr lang="en-US" sz="2000" dirty="0" smtClean="0">
                <a:latin typeface="Droid Sans Pro"/>
                <a:cs typeface="Droid Sans Pro"/>
              </a:rPr>
              <a:t>Preacher Curl</a:t>
            </a:r>
          </a:p>
          <a:p>
            <a:r>
              <a:rPr lang="en-US" sz="2000" dirty="0" err="1" smtClean="0">
                <a:latin typeface="Droid Sans Pro"/>
                <a:cs typeface="Droid Sans Pro"/>
              </a:rPr>
              <a:t>Pendlay</a:t>
            </a:r>
            <a:r>
              <a:rPr lang="en-US" sz="2000" dirty="0" smtClean="0">
                <a:latin typeface="Droid Sans Pro"/>
                <a:cs typeface="Droid Sans Pro"/>
              </a:rPr>
              <a:t> Row</a:t>
            </a:r>
          </a:p>
          <a:p>
            <a:endParaRPr lang="en-US" sz="2000" dirty="0">
              <a:latin typeface="Droid Sans Pro"/>
              <a:cs typeface="Droid Sans Pro"/>
            </a:endParaRPr>
          </a:p>
          <a:p>
            <a:pPr marL="0" indent="0">
              <a:buNone/>
            </a:pPr>
            <a:r>
              <a:rPr lang="en-US" sz="2000" dirty="0" smtClean="0">
                <a:latin typeface="Droid Sans Pro"/>
                <a:cs typeface="Droid Sans Pro"/>
              </a:rPr>
              <a:t>Soon:</a:t>
            </a:r>
          </a:p>
          <a:p>
            <a:r>
              <a:rPr lang="en-US" sz="2000" dirty="0" smtClean="0">
                <a:latin typeface="Droid Sans Pro"/>
                <a:cs typeface="Droid Sans Pro"/>
              </a:rPr>
              <a:t>Deadlift</a:t>
            </a:r>
          </a:p>
          <a:p>
            <a:r>
              <a:rPr lang="en-US" sz="2000" dirty="0" err="1" smtClean="0">
                <a:latin typeface="Droid Sans Pro"/>
                <a:cs typeface="Droid Sans Pro"/>
              </a:rPr>
              <a:t>Lat</a:t>
            </a:r>
            <a:r>
              <a:rPr lang="en-US" sz="2000" dirty="0" smtClean="0">
                <a:latin typeface="Droid Sans Pro"/>
                <a:cs typeface="Droid Sans Pro"/>
              </a:rPr>
              <a:t> Pulldown</a:t>
            </a:r>
          </a:p>
          <a:p>
            <a:r>
              <a:rPr lang="en-US" sz="2000" dirty="0" smtClean="0">
                <a:latin typeface="Droid Sans Pro"/>
                <a:cs typeface="Droid Sans Pro"/>
              </a:rPr>
              <a:t>Shoulder Fly</a:t>
            </a:r>
          </a:p>
          <a:p>
            <a:endParaRPr lang="en-US" sz="2000" dirty="0">
              <a:latin typeface="Droid Sans Pro"/>
              <a:cs typeface="Droid Sans Pro"/>
            </a:endParaRPr>
          </a:p>
          <a:p>
            <a:pPr marL="0" indent="0">
              <a:buNone/>
            </a:pPr>
            <a:endParaRPr lang="en-US" sz="2000" dirty="0">
              <a:solidFill>
                <a:srgbClr val="002060"/>
              </a:solidFill>
              <a:latin typeface="Droid Sans Pro"/>
              <a:cs typeface="Droid Sans Pro"/>
            </a:endParaRPr>
          </a:p>
          <a:p>
            <a:pPr marL="0" indent="0">
              <a:buNone/>
            </a:pPr>
            <a:endParaRPr lang="en-US" sz="2000" dirty="0">
              <a:solidFill>
                <a:srgbClr val="002060"/>
              </a:solidFill>
              <a:latin typeface="Droid Sans Pro"/>
              <a:cs typeface="Droid Sans Pro"/>
            </a:endParaRPr>
          </a:p>
        </p:txBody>
      </p:sp>
      <p:pic>
        <p:nvPicPr>
          <p:cNvPr id="10" name="Picture 9" descr="Slide12_Holonyak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08500" cy="6985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6439"/>
          <a:stretch/>
        </p:blipFill>
        <p:spPr>
          <a:xfrm>
            <a:off x="0" y="1"/>
            <a:ext cx="4504556" cy="698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513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ver Sl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econdary Sl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306</Words>
  <Application>Microsoft Office PowerPoint</Application>
  <PresentationFormat>Custom</PresentationFormat>
  <Paragraphs>93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Adobe Fan Heiti Std B</vt:lpstr>
      <vt:lpstr>Arial</vt:lpstr>
      <vt:lpstr>Arial Narrow</vt:lpstr>
      <vt:lpstr>Calibri</vt:lpstr>
      <vt:lpstr>Droid Sans</vt:lpstr>
      <vt:lpstr>Droid Sans Pro</vt:lpstr>
      <vt:lpstr>OfficinaSansITCStd Book</vt:lpstr>
      <vt:lpstr>Vinyl OT Regular</vt:lpstr>
      <vt:lpstr>Wingdings</vt:lpstr>
      <vt:lpstr>Cover Slide</vt:lpstr>
      <vt:lpstr>Secondary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WINTERAVEN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Debby Winter</dc:creator>
  <cp:lastModifiedBy>Dario Aranguiz</cp:lastModifiedBy>
  <cp:revision>87</cp:revision>
  <dcterms:created xsi:type="dcterms:W3CDTF">2013-03-29T19:51:49Z</dcterms:created>
  <dcterms:modified xsi:type="dcterms:W3CDTF">2015-05-06T21:44:54Z</dcterms:modified>
</cp:coreProperties>
</file>